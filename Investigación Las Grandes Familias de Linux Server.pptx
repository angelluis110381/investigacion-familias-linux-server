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60" r:id="rId12"/>
    <p:sldId id="270" r:id="rId13"/>
    <p:sldId id="261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hkRHNCoaswck6hg0JM2nf1RaE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8DE086D5-A27C-593F-E70A-CD242D0E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696EB191-AB3C-F02C-8F92-24466FBB9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F355E57-39DE-0A39-3378-7C9B50C9D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7408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F531B702-F2A1-6BDF-DA24-34CA0C84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6D9ABB93-F5F9-9482-A785-466A6D7EE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500D8A3-8967-618A-3652-E74357D42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7958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C885A35-0A3E-FB15-07A1-2F18F2D0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A3F8A46-C48B-4C9A-02AB-7FF053E17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15C6529-2C37-4E6E-60F6-09E66BF72E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6653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FD12E146-6671-C3C6-A460-747B09BC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B9A8181-9D8D-C95C-2040-96D2587141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DC775804-283A-7E52-E596-D2336F7BF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5556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081BFB7-3F06-8F54-B8B4-E6A25FDC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A85CB1FB-8B43-65A1-46E5-6272F5368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78601EE-62F3-4026-497C-AA2B968F9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8963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EB3B4CA-D792-C8A6-3CE3-71172A42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1CCFD963-0E04-17CD-F9B5-B5EAE3109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F3D7318-BC96-D208-38EC-E1B5ED347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5453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D75687A5-C3A8-46FF-36FF-E26A5013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E63CDBAC-7E61-E950-78EA-77BF2685E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DDA6A81-557B-2FA0-4AB0-04F348D022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979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C07ABDA-79A7-4D85-DB7D-62DE9F0C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9038EA2-0B9D-8F19-B87E-11A66DE965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7116F00-B536-D579-AC0E-26D9BCFF3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2323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9A7D98F5-ABFA-87ED-C8B8-8789788A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E53E6D99-22B6-7057-7DB3-133FF4493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BD6DF85-6FD9-4AE8-5813-45C660A11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11202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b48d7b7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3db48d7b7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EELANCER-KFH/fundamentos-ciberseguridad/tree/main/lab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hlinkClick r:id="rId3"/>
          </p:cNvPr>
          <p:cNvSpPr txBox="1">
            <a:spLocks noGrp="1"/>
          </p:cNvSpPr>
          <p:nvPr>
            <p:ph type="body" idx="1"/>
          </p:nvPr>
        </p:nvSpPr>
        <p:spPr>
          <a:xfrm>
            <a:off x="263236" y="1828801"/>
            <a:ext cx="11707091" cy="493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s-DO" sz="2000" b="1" dirty="0"/>
              <a:t>Participante:</a:t>
            </a:r>
            <a:r>
              <a:rPr lang="es-DO" sz="2000" dirty="0"/>
              <a:t> Angel Luis Matos Vásquez</a:t>
            </a: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sz="2000" b="1" dirty="0"/>
              <a:t>Técnico: </a:t>
            </a:r>
            <a:r>
              <a:rPr lang="es-DO" sz="2000" dirty="0"/>
              <a:t>Ciberseguridad</a:t>
            </a:r>
            <a:endParaRPr sz="2000" dirty="0"/>
          </a:p>
          <a:p>
            <a:pPr marL="0" lvl="0" indent="0">
              <a:buSzPts val="2800"/>
              <a:buNone/>
            </a:pPr>
            <a:r>
              <a:rPr lang="es-DO" sz="2000" b="1" dirty="0"/>
              <a:t>Módulo: </a:t>
            </a:r>
            <a:r>
              <a:rPr lang="es-ES" sz="2000" dirty="0"/>
              <a:t>Instalación y Administración de Linux Server </a:t>
            </a: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sz="2000" b="1" dirty="0"/>
              <a:t>Facilitador: </a:t>
            </a:r>
            <a:r>
              <a:rPr lang="es-DO" sz="2000" dirty="0"/>
              <a:t>Kevin Feliz Henríquez</a:t>
            </a:r>
            <a:endParaRPr sz="2000" dirty="0"/>
          </a:p>
          <a:p>
            <a:pPr marL="0" lvl="0" indent="0">
              <a:buSzPts val="2800"/>
              <a:buNone/>
            </a:pPr>
            <a:r>
              <a:rPr lang="es-DO" sz="2000" b="1" dirty="0"/>
              <a:t>Centro: : </a:t>
            </a:r>
            <a:r>
              <a:rPr lang="es-DO" sz="2000" dirty="0" err="1"/>
              <a:t>Cyberclass</a:t>
            </a:r>
            <a:endParaRPr sz="2000" dirty="0"/>
          </a:p>
          <a:p>
            <a:pPr marL="0" lvl="0" indent="0">
              <a:buSzPts val="2800"/>
              <a:buNone/>
            </a:pPr>
            <a:r>
              <a:rPr lang="es-DO" sz="2000" b="1" dirty="0"/>
              <a:t>Práctica: </a:t>
            </a:r>
            <a:r>
              <a:rPr lang="es-ES" sz="2000" dirty="0"/>
              <a:t>Investigación: Las Grandes Familias de Linux Server</a:t>
            </a:r>
            <a:endParaRPr sz="2000" dirty="0"/>
          </a:p>
          <a:p>
            <a:pPr marL="0" lvl="0" indent="0">
              <a:buSzPts val="2800"/>
              <a:buNone/>
            </a:pPr>
            <a:r>
              <a:rPr lang="es-DO" sz="2000" b="1" dirty="0"/>
              <a:t>Descripción: </a:t>
            </a:r>
            <a:r>
              <a:rPr lang="es-ES" sz="2000" dirty="0"/>
              <a:t>Investigación documental sobre las tres distribuciones de Linux más utilizadas en entornos de servidor —Ubuntu Server, Debian GNU/Linux </a:t>
            </a:r>
            <a:r>
              <a:rPr lang="es-ES" sz="2000" dirty="0" err="1"/>
              <a:t>Stable</a:t>
            </a:r>
            <a:r>
              <a:rPr lang="es-ES" sz="2000" dirty="0"/>
              <a:t> y Rocky Linux/</a:t>
            </a:r>
            <a:r>
              <a:rPr lang="es-ES" sz="2000" dirty="0" err="1"/>
              <a:t>AlmaLinux</a:t>
            </a:r>
            <a:r>
              <a:rPr lang="es-ES" sz="2000" dirty="0"/>
              <a:t>—, analizando su origen, línea de sangre (base), caso de uso ideal y ciclo de soporte de cada una.</a:t>
            </a:r>
            <a:endParaRPr sz="2000" dirty="0"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3702" y="179885"/>
            <a:ext cx="3980661" cy="1413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6;p1">
            <a:extLst>
              <a:ext uri="{FF2B5EF4-FFF2-40B4-BE49-F238E27FC236}">
                <a16:creationId xmlns:a16="http://schemas.microsoft.com/office/drawing/2014/main" id="{A0AC7737-EB30-ED75-25CF-AFA9F6817FD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7639" y="395925"/>
            <a:ext cx="4654700" cy="1065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975650" y="2290319"/>
            <a:ext cx="9705600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ES" sz="1600" b="1" dirty="0"/>
              <a:t>Título:</a:t>
            </a:r>
            <a:r>
              <a:rPr lang="es-ES" sz="1600" dirty="0"/>
              <a:t> Ubuntu Server</a:t>
            </a:r>
          </a:p>
          <a:p>
            <a:endParaRPr lang="es-ES" sz="1600" dirty="0"/>
          </a:p>
          <a:p>
            <a:r>
              <a:rPr lang="es-ES" sz="1600" b="1" dirty="0"/>
              <a:t>Definición:</a:t>
            </a:r>
            <a:r>
              <a:rPr lang="es-ES" sz="1600" dirty="0"/>
              <a:t> Ubuntu Server es una distribución de Linux orientada a entornos de servidor, mantenida por la empresa británica Canonical Ltd. Es una de las opciones más populares del mercado gracias a su facilidad de uso, su enorme comunidad y su fuerte presencia en la nube.</a:t>
            </a:r>
          </a:p>
          <a:p>
            <a:endParaRPr lang="es-ES" sz="1600" b="1" dirty="0"/>
          </a:p>
          <a:p>
            <a:r>
              <a:rPr lang="es-ES" sz="1600" b="1" dirty="0"/>
              <a:t>Características (usa los 4 puntos que pide la guía):</a:t>
            </a:r>
            <a:endParaRPr lang="es-ES" sz="1600" dirty="0"/>
          </a:p>
          <a:p>
            <a:r>
              <a:rPr lang="es-ES" sz="1600" b="1" dirty="0"/>
              <a:t>Nombre y origen:</a:t>
            </a:r>
            <a:r>
              <a:rPr lang="es-ES" sz="1600" dirty="0"/>
              <a:t> Ubuntu Server es desarrollada y respaldada por Canonical Ltd., una empresa comercial fundada por Mark Shuttleworth en 2004. A diferencia de proyectos puramente comunitarios, Canonical financia el desarrollo, ofrece soporte pagado (Ubuntu Pro) y toma las decisiones finales sobre el rumbo del proyecto, aunque también recibe aportes de la comunidad.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628F9B9-0388-D87E-19D3-AD9F6851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BF9B4F33-90E4-1D5D-FBF6-0FAFCF0D2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D5EDB98E-4B42-27D5-0015-29806BB7A0D7}"/>
              </a:ext>
            </a:extLst>
          </p:cNvPr>
          <p:cNvSpPr txBox="1"/>
          <p:nvPr/>
        </p:nvSpPr>
        <p:spPr>
          <a:xfrm>
            <a:off x="975650" y="2290319"/>
            <a:ext cx="97056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800"/>
            </a:pPr>
            <a:r>
              <a:rPr lang="es-ES" sz="1600" b="1" dirty="0"/>
              <a:t>Línea de sangre (base):</a:t>
            </a:r>
            <a:r>
              <a:rPr lang="es-ES" sz="1600" dirty="0"/>
              <a:t> No es independiente: Ubuntu está basada en Debian. Reutiliza su sistema de paquetes .</a:t>
            </a:r>
            <a:r>
              <a:rPr lang="es-ES" sz="1600" dirty="0" err="1"/>
              <a:t>deb</a:t>
            </a:r>
            <a:r>
              <a:rPr lang="es-ES" sz="1600" dirty="0"/>
              <a:t> y el gestor APT, pero Canonical le agrega su propio ciclo de lanzamientos, herramientas propias (como Snap) y un enfoque más orientado a facilidad de uso que Debian puro.</a:t>
            </a:r>
          </a:p>
          <a:p>
            <a:pPr lvl="0">
              <a:buSzPts val="2800"/>
            </a:pPr>
            <a:endParaRPr lang="es-ES"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ts val="2800"/>
            </a:pPr>
            <a:r>
              <a:rPr lang="es-ES" sz="1600" b="1" dirty="0"/>
              <a:t>Caso de uso ideal:</a:t>
            </a:r>
            <a:r>
              <a:rPr lang="es-ES" sz="1600" dirty="0"/>
              <a:t> Es la distribución dominante en proveedores de nube (AWS, Azure, Google Cloud la ofrecen como imagen por defecto), en despliegues con Docker/</a:t>
            </a:r>
            <a:r>
              <a:rPr lang="es-ES" sz="1600" dirty="0" err="1"/>
              <a:t>Kubernetes</a:t>
            </a:r>
            <a:r>
              <a:rPr lang="es-ES" sz="1600" dirty="0"/>
              <a:t>, y en startups o empresas que priorizan rapidez de implementación, abundante documentación y una comunidad enorme que facilita resolver problemas rápido.</a:t>
            </a:r>
            <a:endParaRPr lang="es-ES"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ts val="2800"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4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5560C50A-AE49-5751-E674-F25F4BB4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E96B0B50-40AC-C902-019E-9D62820475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9739DEC3-DFBF-65DC-198F-285678BA1FF8}"/>
              </a:ext>
            </a:extLst>
          </p:cNvPr>
          <p:cNvSpPr txBox="1"/>
          <p:nvPr/>
        </p:nvSpPr>
        <p:spPr>
          <a:xfrm>
            <a:off x="975650" y="2290319"/>
            <a:ext cx="97056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800"/>
            </a:pPr>
            <a:r>
              <a:rPr lang="es-ES" sz="1600" b="1"/>
              <a:t>Ciclo de soporte:</a:t>
            </a:r>
            <a:r>
              <a:rPr lang="es-ES" sz="1600"/>
              <a:t> Canonical publica una versión LTS (Long Term Support) cada 2 años. Cada LTS recibe 5 años de soporte estándar gratuito, y con la suscripción Ubuntu Pro se puede extender 5 años más mediante Expanded Security Maintenance (ESM), llegando hasta 10 años totales de parches de seguridad (e incluso 15 años con el add-on Legacy).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2065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A23AB9C-6AB6-8956-BEFA-E4324C87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444B7E78-1ABE-FFA4-7653-12BC348C2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6FBB9CB0-EC6E-DF8C-0547-0947005A7F10}"/>
              </a:ext>
            </a:extLst>
          </p:cNvPr>
          <p:cNvSpPr txBox="1"/>
          <p:nvPr/>
        </p:nvSpPr>
        <p:spPr>
          <a:xfrm>
            <a:off x="975650" y="2290319"/>
            <a:ext cx="9705600" cy="338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ES" sz="1600" b="1" dirty="0"/>
              <a:t>Título:</a:t>
            </a:r>
            <a:r>
              <a:rPr lang="es-ES" sz="1600" dirty="0"/>
              <a:t> Debian GNU/Linux (</a:t>
            </a:r>
            <a:r>
              <a:rPr lang="es-ES" sz="1600" dirty="0" err="1"/>
              <a:t>Stable</a:t>
            </a:r>
            <a:r>
              <a:rPr lang="es-ES" sz="1600" dirty="0"/>
              <a:t>)</a:t>
            </a:r>
          </a:p>
          <a:p>
            <a:endParaRPr lang="es-ES" sz="1600" b="1" dirty="0"/>
          </a:p>
          <a:p>
            <a:r>
              <a:rPr lang="es-ES" sz="1600" b="1" dirty="0"/>
              <a:t>Definición:</a:t>
            </a:r>
            <a:r>
              <a:rPr lang="es-ES" sz="1600" dirty="0"/>
              <a:t> Debian es una de las distribuciones de Linux más antiguas y respetadas, mantenida enteramente por una comunidad global de voluntarios y desarrolladores, sin que ninguna empresa la controle. Su rama "</a:t>
            </a:r>
            <a:r>
              <a:rPr lang="es-ES" sz="1600" dirty="0" err="1"/>
              <a:t>Stable</a:t>
            </a:r>
            <a:r>
              <a:rPr lang="es-ES" sz="1600" dirty="0"/>
              <a:t>" es la que se usa en producción, priorizando por encima de todo la estabilidad y la seguridad.</a:t>
            </a:r>
          </a:p>
          <a:p>
            <a:endParaRPr lang="es-ES" sz="1600" dirty="0"/>
          </a:p>
          <a:p>
            <a:r>
              <a:rPr lang="es-ES" sz="1600" b="1" dirty="0"/>
              <a:t>Características:</a:t>
            </a:r>
          </a:p>
          <a:p>
            <a:r>
              <a:rPr lang="es-ES" sz="1600" b="1" dirty="0"/>
              <a:t>Nombre y origen:</a:t>
            </a:r>
            <a:r>
              <a:rPr lang="es-ES" sz="1600" dirty="0"/>
              <a:t> Debian GNU/Linux fue fundado en 1993 por Ian Murdock. A diferencia de Ubuntu o Rocky, no tiene detrás una empresa que lo respalde económicamente: es un proyecto sin fines de lucro, sostenido por el Debian Project, formado por miles de desarrolladores voluntarios y organizaciones que colaboran de forma descentralizada.</a:t>
            </a:r>
          </a:p>
          <a:p>
            <a:pPr lvl="0">
              <a:buSzPts val="2800"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296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12E6108-D0C2-907D-667F-B4B79E01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F392AEC4-0504-9FCA-1314-D560EB877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3DD4570A-77FF-A21F-A54A-C61FBA9D9033}"/>
              </a:ext>
            </a:extLst>
          </p:cNvPr>
          <p:cNvSpPr txBox="1"/>
          <p:nvPr/>
        </p:nvSpPr>
        <p:spPr>
          <a:xfrm>
            <a:off x="975650" y="2290319"/>
            <a:ext cx="9705600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800"/>
            </a:pPr>
            <a:r>
              <a:rPr lang="es-ES" sz="1600" b="1" dirty="0"/>
              <a:t>Línea de sangre (base):</a:t>
            </a:r>
            <a:r>
              <a:rPr lang="es-ES" sz="1600" dirty="0"/>
              <a:t> Debian es una distribución independiente y "madre": no nace de otra, sino que es la base de la que derivan decenas de distribuciones, incluyendo Ubuntu, Linux </a:t>
            </a:r>
            <a:r>
              <a:rPr lang="es-ES" sz="1600" dirty="0" err="1"/>
              <a:t>Mint</a:t>
            </a:r>
            <a:r>
              <a:rPr lang="es-ES" sz="1600" dirty="0"/>
              <a:t>, Kali Linux y Raspberry Pi OS. Esto la convierte en uno de los pilares fundamentales del ecosistema Linux.</a:t>
            </a:r>
          </a:p>
          <a:p>
            <a:pPr lvl="0">
              <a:buSzPts val="2800"/>
            </a:pPr>
            <a:endParaRPr lang="es-ES"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ts val="2800"/>
            </a:pPr>
            <a:r>
              <a:rPr lang="es-ES" sz="1600" b="1" dirty="0"/>
              <a:t>Caso de uso ideal:</a:t>
            </a:r>
            <a:r>
              <a:rPr lang="es-ES" sz="1600" dirty="0"/>
              <a:t> Se recomienda para servidores donde la máxima estabilidad es la prioridad absoluta: servidores de correo, DNS, bases de datos críticas y hosting, donde no se quiere que el sistema cambie ni se "rompa" durante años. También es la base elegida para Kali Linux, la distribución más usada en </a:t>
            </a:r>
            <a:r>
              <a:rPr lang="es-ES" sz="1600" dirty="0" err="1"/>
              <a:t>pentesting</a:t>
            </a:r>
            <a:r>
              <a:rPr lang="es-ES" sz="1600" dirty="0"/>
              <a:t>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58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63812CB-5A71-9DBA-AB37-23EC90B5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7FD0AA8A-670E-7EE4-83F3-00C849FFE9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28743277-7D99-EF30-A440-5CDC79FA68F8}"/>
              </a:ext>
            </a:extLst>
          </p:cNvPr>
          <p:cNvSpPr txBox="1"/>
          <p:nvPr/>
        </p:nvSpPr>
        <p:spPr>
          <a:xfrm>
            <a:off x="975650" y="2290319"/>
            <a:ext cx="97056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800"/>
            </a:pPr>
            <a:r>
              <a:rPr lang="es-ES" sz="1600" b="1" dirty="0"/>
              <a:t>Ciclo de soporte:</a:t>
            </a:r>
            <a:r>
              <a:rPr lang="es-ES" sz="1600" dirty="0"/>
              <a:t> Cada versión </a:t>
            </a:r>
            <a:r>
              <a:rPr lang="es-ES" sz="1600" dirty="0" err="1"/>
              <a:t>Stable</a:t>
            </a:r>
            <a:r>
              <a:rPr lang="es-ES" sz="1600" dirty="0"/>
              <a:t> de Debian recibe alrededor de 3 años de soporte completo por el equipo de seguridad oficial, seguidos de 2 años adicionales de LTS (Long </a:t>
            </a:r>
            <a:r>
              <a:rPr lang="es-ES" sz="1600" dirty="0" err="1"/>
              <a:t>Term</a:t>
            </a:r>
            <a:r>
              <a:rPr lang="es-ES" sz="1600" dirty="0"/>
              <a:t> </a:t>
            </a:r>
            <a:r>
              <a:rPr lang="es-ES" sz="1600" dirty="0" err="1"/>
              <a:t>Support</a:t>
            </a:r>
            <a:r>
              <a:rPr lang="es-ES" sz="1600" dirty="0"/>
              <a:t>) mantenidos por voluntarios y empresas colaboradoras, sumando unos 5 años totales. Existe además un soporte comercial extendido (ELTS) que puede llevarlo hasta 10 años.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693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E290BE0-8341-A0B0-A8DD-1DFFE71C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F10AC23E-3FBA-26EF-AB1D-4EDF80181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6997FDCD-89AB-83AB-96A3-FD09D0CF07A9}"/>
              </a:ext>
            </a:extLst>
          </p:cNvPr>
          <p:cNvSpPr txBox="1"/>
          <p:nvPr/>
        </p:nvSpPr>
        <p:spPr>
          <a:xfrm>
            <a:off x="975650" y="2290319"/>
            <a:ext cx="9705600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ES" sz="1600" b="1" dirty="0"/>
              <a:t>Título:</a:t>
            </a:r>
            <a:r>
              <a:rPr lang="es-ES" sz="1600" dirty="0"/>
              <a:t> Rocky Linux</a:t>
            </a:r>
          </a:p>
          <a:p>
            <a:endParaRPr lang="es-ES" sz="1600" b="1" dirty="0"/>
          </a:p>
          <a:p>
            <a:r>
              <a:rPr lang="es-ES" sz="1600" b="1" dirty="0"/>
              <a:t>Definición:</a:t>
            </a:r>
            <a:r>
              <a:rPr lang="es-ES" sz="1600" dirty="0"/>
              <a:t> Rocky Linux es una distribución de nivel empresarial, creada como reconstrucción binaria de Red </a:t>
            </a:r>
            <a:r>
              <a:rPr lang="es-ES" sz="1600" dirty="0" err="1"/>
              <a:t>Hat</a:t>
            </a:r>
            <a:r>
              <a:rPr lang="es-ES" sz="1600" dirty="0"/>
              <a:t> Enterprise Linux (RHEL), pensada para ofrecer la misma estabilidad y compatibilidad de RHEL sin costo de licencia.</a:t>
            </a:r>
          </a:p>
          <a:p>
            <a:endParaRPr lang="es-ES" sz="1600" b="1" dirty="0"/>
          </a:p>
          <a:p>
            <a:r>
              <a:rPr lang="es-ES" sz="1600" b="1" dirty="0"/>
              <a:t>Características:</a:t>
            </a:r>
            <a:endParaRPr lang="es-ES" sz="1600" dirty="0"/>
          </a:p>
          <a:p>
            <a:r>
              <a:rPr lang="es-ES" sz="1600" b="1" dirty="0"/>
              <a:t>Nombre y origen:</a:t>
            </a:r>
            <a:r>
              <a:rPr lang="es-ES" sz="1600" dirty="0"/>
              <a:t> Rocky Linux nació en 2020, creado por Gregory </a:t>
            </a:r>
            <a:r>
              <a:rPr lang="es-ES" sz="1600" dirty="0" err="1"/>
              <a:t>Kurtzer</a:t>
            </a:r>
            <a:r>
              <a:rPr lang="es-ES" sz="1600" dirty="0"/>
              <a:t> —cofundador del CentOS original— como respuesta directa al anuncio de Red </a:t>
            </a:r>
            <a:r>
              <a:rPr lang="es-ES" sz="1600" dirty="0" err="1"/>
              <a:t>Hat</a:t>
            </a:r>
            <a:r>
              <a:rPr lang="es-ES" sz="1600" dirty="0"/>
              <a:t> de discontinuar CentOS como clon estable de RHEL. Hoy es mantenido por la Rocky Enterprise Software </a:t>
            </a:r>
            <a:r>
              <a:rPr lang="es-ES" sz="1600" dirty="0" err="1"/>
              <a:t>Foundation</a:t>
            </a:r>
            <a:r>
              <a:rPr lang="es-ES" sz="1600" dirty="0"/>
              <a:t> (RESF), una fundación sin fines de lucro respaldada por patrocinadores y una comunidad activa, no por una sola empresa.</a:t>
            </a:r>
          </a:p>
          <a:p>
            <a:pPr lvl="0">
              <a:buSzPts val="2800"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4821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9A5C64CD-6677-C44A-0802-9069D0E7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E22C54BE-AD3B-8950-A499-600714022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6B6BA915-1335-6057-8210-1B69DA6D27CD}"/>
              </a:ext>
            </a:extLst>
          </p:cNvPr>
          <p:cNvSpPr txBox="1"/>
          <p:nvPr/>
        </p:nvSpPr>
        <p:spPr>
          <a:xfrm>
            <a:off x="975650" y="2290319"/>
            <a:ext cx="97056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800"/>
            </a:pPr>
            <a:r>
              <a:rPr lang="es-ES" sz="1600" b="1" dirty="0"/>
              <a:t>Línea de sangre (base):</a:t>
            </a:r>
            <a:r>
              <a:rPr lang="es-ES" sz="1600" dirty="0"/>
              <a:t> No es independiente: es un "</a:t>
            </a:r>
            <a:r>
              <a:rPr lang="es-ES" sz="1600" dirty="0" err="1"/>
              <a:t>rebuild</a:t>
            </a:r>
            <a:r>
              <a:rPr lang="es-ES" sz="1600" dirty="0"/>
              <a:t>" (reconstrucción) directo del código fuente de Red </a:t>
            </a:r>
            <a:r>
              <a:rPr lang="es-ES" sz="1600" dirty="0" err="1"/>
              <a:t>Hat</a:t>
            </a:r>
            <a:r>
              <a:rPr lang="es-ES" sz="1600" dirty="0"/>
              <a:t> Enterprise Linux (RHEL), logrando compatibilidad casi total ("bug-</a:t>
            </a:r>
            <a:r>
              <a:rPr lang="es-ES" sz="1600" dirty="0" err="1"/>
              <a:t>for</a:t>
            </a:r>
            <a:r>
              <a:rPr lang="es-ES" sz="1600" dirty="0"/>
              <a:t>-bug") a nivel de paquetes y comandos. </a:t>
            </a:r>
            <a:r>
              <a:rPr lang="es-ES" sz="1600" dirty="0" err="1"/>
              <a:t>AlmaLinux</a:t>
            </a:r>
            <a:r>
              <a:rPr lang="es-ES" sz="1600" dirty="0"/>
              <a:t> sigue exactamente el mismo modelo y objetivo.</a:t>
            </a:r>
          </a:p>
          <a:p>
            <a:pPr lvl="0">
              <a:buSzPts val="2800"/>
            </a:pPr>
            <a:endParaRPr lang="es-ES" sz="1600" dirty="0"/>
          </a:p>
          <a:p>
            <a:pPr lvl="0">
              <a:buSzPts val="2800"/>
            </a:pPr>
            <a:r>
              <a:rPr lang="es-ES" sz="1600" b="1" dirty="0"/>
              <a:t>Caso de uso ideal:</a:t>
            </a:r>
            <a:r>
              <a:rPr lang="es-ES" sz="1600" dirty="0"/>
              <a:t> Se recomienda para entornos empresariales que necesitan la solidez y certificación de RHEL sin pagar licencia: bancos, instituciones gubernamentales, y empresas que migraron desde el antiguo CentOS Linux cuando este dejó de ser una opción estable. Es común en entornos que exigen soporte a largo plazo y compatibilidad certificada con software corporativo.</a:t>
            </a:r>
          </a:p>
          <a:p>
            <a:pPr lvl="0">
              <a:buSzPts val="2800"/>
            </a:pPr>
            <a:endParaRPr lang="es-ES"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ts val="2800"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419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D4A4FDC-FE30-1989-CAFD-D98CEC709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E6C58A1C-B321-7B9A-B1A8-CB77E53A94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368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C00A6D15-6544-32B2-8B89-32156D19E0AC}"/>
              </a:ext>
            </a:extLst>
          </p:cNvPr>
          <p:cNvSpPr txBox="1"/>
          <p:nvPr/>
        </p:nvSpPr>
        <p:spPr>
          <a:xfrm>
            <a:off x="975650" y="2290319"/>
            <a:ext cx="97056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800"/>
            </a:pPr>
            <a:r>
              <a:rPr lang="es-ES" sz="1600" b="1"/>
              <a:t>Ciclo de soporte:</a:t>
            </a:r>
            <a:r>
              <a:rPr lang="es-ES" sz="1600"/>
              <a:t> Sigue el ciclo de vida de RHEL: 10 años totales de soporte por versión mayor, divididos en 5 años de soporte completo (con actualizaciones de funciones) y 5 años adicionales de mantenimiento (solo parches de seguridad y errores críticos).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1361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b="1" dirty="0"/>
              <a:t>Resumen de lo aprendido</a:t>
            </a:r>
            <a:endParaRPr sz="2000" b="1" dirty="0"/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sz="1600" b="1" dirty="0"/>
              <a:t>Título:</a:t>
            </a:r>
            <a:r>
              <a:rPr lang="es-ES" sz="1600" dirty="0"/>
              <a:t> Resumen de lo aprendido</a:t>
            </a:r>
          </a:p>
          <a:p>
            <a:r>
              <a:rPr lang="es-ES" sz="1600" dirty="0"/>
              <a:t>En esta investigación, aprendí a realizar lo siguiente:</a:t>
            </a:r>
          </a:p>
          <a:p>
            <a:r>
              <a:rPr lang="es-ES" sz="1600" dirty="0"/>
              <a:t>Diferenciar el modelo de respaldo de una distribución: </a:t>
            </a:r>
            <a:r>
              <a:rPr lang="es-ES" sz="1600" b="1" dirty="0"/>
              <a:t>Ubuntu Server</a:t>
            </a:r>
            <a:r>
              <a:rPr lang="es-ES" sz="1600" dirty="0"/>
              <a:t> y </a:t>
            </a:r>
            <a:r>
              <a:rPr lang="es-ES" sz="1600" b="1" dirty="0"/>
              <a:t>Rocky Linux</a:t>
            </a:r>
            <a:r>
              <a:rPr lang="es-ES" sz="1600" dirty="0"/>
              <a:t> cuentan con organizaciones formales detrás (Canonical y la Rocky Enterprise Software </a:t>
            </a:r>
            <a:r>
              <a:rPr lang="es-ES" sz="1600" dirty="0" err="1"/>
              <a:t>Foundation</a:t>
            </a:r>
            <a:r>
              <a:rPr lang="es-ES" sz="1600" dirty="0"/>
              <a:t>), mientras que </a:t>
            </a:r>
            <a:r>
              <a:rPr lang="es-ES" sz="1600" b="1" dirty="0"/>
              <a:t>Debian</a:t>
            </a:r>
            <a:r>
              <a:rPr lang="es-ES" sz="1600" dirty="0"/>
              <a:t> depende completamente del trabajo voluntario de su comunidad.</a:t>
            </a:r>
          </a:p>
          <a:p>
            <a:r>
              <a:rPr lang="es-ES" sz="1600" dirty="0"/>
              <a:t>Comprender la diferencia entre una distribución "madre" (independiente) y una "hija" (derivada): Debian es la base de la que nacen tanto Ubuntu como, indirectamente, muchas otras distros, mientras que Rocky Linux es una reconstrucción directa de RHEL.</a:t>
            </a:r>
          </a:p>
          <a:p>
            <a:endParaRPr lang="es-ES" sz="1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21E05D2B-1003-3077-E73F-A71808D6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BC47EC98-1CAF-6905-258F-5B4B695F7C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b="1" dirty="0"/>
              <a:t>Resumen de lo aprendido</a:t>
            </a:r>
            <a:endParaRPr sz="2000" b="1"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B1F420C-3404-7DA7-668F-2752B2354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s-ES" sz="1600" dirty="0"/>
              <a:t>Identificar que cada distribución tiene un nicho claro: Ubuntu domina en la nube y en entornos de rápida implementación, Debian se elige cuando la estabilidad absoluta es la prioridad, y Rocky Linux es la alternativa empresarial sin costo de licencia para quienes necesitan compatibilidad certificada con RHEL.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s-ES" sz="1600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s-ES" sz="1600" dirty="0"/>
              <a:t>Relacionar la filosofía de "Soporte Empresarial vs. Comunidad" con casos reales: mientras Ubuntu y Rocky ofrecen ciclos de soporte extendidos de hasta 10 años (con respaldo corporativo o de fundación), Debian prioriza un ciclo más corto (~5 años) pero con total </a:t>
            </a:r>
            <a:r>
              <a:rPr lang="es-DO" sz="1600" dirty="0"/>
              <a:t>independencia de intereses comerciales.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935467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b48d7b7b0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b="1"/>
              <a:t>Bibliografia</a:t>
            </a:r>
            <a:endParaRPr b="1"/>
          </a:p>
        </p:txBody>
      </p:sp>
      <p:sp>
        <p:nvSpPr>
          <p:cNvPr id="116" name="Google Shape;116;g3db48d7b7b0_0_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s-DO"/>
              <a:t>Blablabla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s-DO"/>
              <a:t>Mas blablablá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s-DO"/>
              <a:t>Otro blablablá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s-DO"/>
              <a:t>Etc.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1269</Words>
  <Application>Microsoft Office PowerPoint</Application>
  <PresentationFormat>Panorámica</PresentationFormat>
  <Paragraphs>61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de Office</vt:lpstr>
      <vt:lpstr>Presentación de PowerPoint</vt:lpstr>
      <vt:lpstr>Desarrollo de la investigación/laboratorio</vt:lpstr>
      <vt:lpstr>Desarrollo de la investigación/laboratorio</vt:lpstr>
      <vt:lpstr>Desarrollo de la investigación/laboratorio</vt:lpstr>
      <vt:lpstr>Desarrollo de la investigación/laboratorio</vt:lpstr>
      <vt:lpstr>Desarrollo de la investigación/laboratorio</vt:lpstr>
      <vt:lpstr>Desarrollo de la investigación/laboratorio</vt:lpstr>
      <vt:lpstr>Desarrollo de la investigación/laboratorio</vt:lpstr>
      <vt:lpstr>Desarrollo de la investigación/laboratorio</vt:lpstr>
      <vt:lpstr>Desarrollo de la investigación/laboratorio</vt:lpstr>
      <vt:lpstr>Resumen de lo aprendido</vt:lpstr>
      <vt:lpstr>Resumen de lo aprendido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Angel Luis Matos Vasquez</cp:lastModifiedBy>
  <cp:revision>2</cp:revision>
  <dcterms:created xsi:type="dcterms:W3CDTF">2026-03-31T00:35:05Z</dcterms:created>
  <dcterms:modified xsi:type="dcterms:W3CDTF">2026-07-22T02:22:15Z</dcterms:modified>
</cp:coreProperties>
</file>